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auto-fix</c:v>
                </c:pt>
              </c:strCache>
            </c:strRef>
          </c:tx>
          <c:spPr>
            <a:solidFill>
              <a:srgbClr val="BBAAD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noipa_1</c:v>
                  </c:pt>
                  <c:pt idx="1">
                    <c:v>noipa_2</c:v>
                  </c:pt>
                  <c:pt idx="2">
                    <c:v>spesa.csv</c:v>
                  </c:pt>
                  <c:pt idx="3">
                    <c:v>attivazioni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94.5</c:v>
                </c:pt>
                <c:pt idx="1">
                  <c:v>87.9</c:v>
                </c:pt>
                <c:pt idx="2">
                  <c:v>71.7</c:v>
                </c:pt>
                <c:pt idx="3">
                  <c:v>69.2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auto-fix</c:v>
                </c:pt>
              </c:strCache>
            </c:strRef>
          </c:tx>
          <c:spPr>
            <a:solidFill>
              <a:srgbClr val="5D2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noipa_1</c:v>
                  </c:pt>
                  <c:pt idx="1">
                    <c:v>noipa_2</c:v>
                  </c:pt>
                  <c:pt idx="2">
                    <c:v>spesa.csv</c:v>
                  </c:pt>
                  <c:pt idx="3">
                    <c:v>attivazioni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98.6</c:v>
                </c:pt>
                <c:pt idx="1">
                  <c:v>97.1</c:v>
                </c:pt>
                <c:pt idx="2">
                  <c:v>89.9</c:v>
                </c:pt>
                <c:pt idx="3">
                  <c:v>82.7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CCBB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Completeness
(40%)</c:v>
                  </c:pt>
                  <c:pt idx="1">
                    <c:v>Schema
(30%)</c:v>
                  </c:pt>
                  <c:pt idx="2">
                    <c:v>Consistency
(20%)</c:v>
                  </c:pt>
                  <c:pt idx="3">
                    <c:v>Anomaly
(10%)</c:v>
                  </c:pt>
                  <c:pt idx="4">
                    <c:v>OVERALL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86.8</c:v>
                </c:pt>
                <c:pt idx="1">
                  <c:v>65.6</c:v>
                </c:pt>
                <c:pt idx="2">
                  <c:v>66.7</c:v>
                </c:pt>
                <c:pt idx="3">
                  <c:v>39.5</c:v>
                </c:pt>
                <c:pt idx="4">
                  <c:v>71.7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5D2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Completeness
(40%)</c:v>
                  </c:pt>
                  <c:pt idx="1">
                    <c:v>Schema
(30%)</c:v>
                  </c:pt>
                  <c:pt idx="2">
                    <c:v>Consistency
(20%)</c:v>
                  </c:pt>
                  <c:pt idx="3">
                    <c:v>Anomaly
(10%)</c:v>
                  </c:pt>
                  <c:pt idx="4">
                    <c:v>OVERALL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96.7</c:v>
                </c:pt>
                <c:pt idx="1">
                  <c:v>97.5</c:v>
                </c:pt>
                <c:pt idx="2">
                  <c:v>89.7</c:v>
                </c:pt>
                <c:pt idx="3">
                  <c:v>40.5</c:v>
                </c:pt>
                <c:pt idx="4">
                  <c:v>89.9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0"/>
            <a:ext cx="201168" cy="5143500"/>
          </a:xfrm>
          <a:prstGeom prst="rect">
            <a:avLst/>
          </a:prstGeom>
          <a:solidFill>
            <a:srgbClr val="9B2C7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D14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58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2560320" cy="4572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8346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14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 for Automated Data Validation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Eleonora Cappetti 812591   |   Daniela Chiezzi 808021   |   Chiara De Sio 819591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x LUISS   |   Machine Learning 2025/26   |   Final Pitch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0"/>
            <a:ext cx="201168" cy="5143500"/>
          </a:xfrm>
          <a:prstGeom prst="rect">
            <a:avLst/>
          </a:prstGeom>
          <a:solidFill>
            <a:srgbClr val="9B2C7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57200" cy="384048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234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NoiPA data needs automated quality control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581912"/>
            <a:ext cx="457200" cy="384048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819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536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810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Six-agent pipeline with LangGraph + Gemini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57984"/>
            <a:ext cx="457200" cy="384048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579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1122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3865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LangGraph, Gemini 2.0 Flash, Streamlit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734056"/>
            <a:ext cx="457200" cy="384048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7340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688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Agents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296265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agent does and key design choices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457200" cy="384048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3101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264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Benchmark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5387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lift across 4 datasets, including Reply data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886200"/>
            <a:ext cx="457200" cy="384048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8862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114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walkthrough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462272"/>
            <a:ext cx="457200" cy="384048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4622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4416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51560" y="46908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and where to go from here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638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321040" cy="1005840"/>
          </a:xfrm>
          <a:prstGeom prst="rect">
            <a:avLst/>
          </a:prstGeom>
          <a:solidFill>
            <a:srgbClr val="1E114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NoiPA manages payroll for 2M+ Italian public employees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0" y="0"/>
            <a:ext cx="201168" cy="5143500"/>
          </a:xfrm>
          <a:prstGeom prst="rect">
            <a:avLst/>
          </a:prstGeom>
          <a:solidFill>
            <a:srgbClr val="9B2C7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43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arrives from dozens of ministries in inconsistent formats — and no automated validation existed.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7726680" cy="841248"/>
          </a:xfrm>
          <a:prstGeom prst="rect">
            <a:avLst/>
          </a:prstGeom>
          <a:solidFill>
            <a:srgbClr val="EDE8FA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691640"/>
            <a:ext cx="54864" cy="841248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10" name="Shape 8"/>
          <p:cNvSpPr/>
          <p:nvPr/>
        </p:nvSpPr>
        <p:spPr>
          <a:xfrm>
            <a:off x="374904" y="1691640"/>
            <a:ext cx="658368" cy="841248"/>
          </a:xfrm>
          <a:prstGeom prst="rect">
            <a:avLst/>
          </a:prstGeom>
          <a:solidFill>
            <a:srgbClr val="5D2E8C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892808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70432" y="176479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sources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70432" y="2093976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CSVs from different ministries with inconsistent column names, encodings and formats.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2697480"/>
            <a:ext cx="7726680" cy="841248"/>
          </a:xfrm>
          <a:prstGeom prst="rect">
            <a:avLst/>
          </a:prstGeom>
          <a:solidFill>
            <a:srgbClr val="EDE8FA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2697480"/>
            <a:ext cx="54864" cy="841248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16" name="Shape 13"/>
          <p:cNvSpPr/>
          <p:nvPr/>
        </p:nvSpPr>
        <p:spPr>
          <a:xfrm>
            <a:off x="374904" y="2697480"/>
            <a:ext cx="658368" cy="841248"/>
          </a:xfrm>
          <a:prstGeom prst="rect">
            <a:avLst/>
          </a:prstGeom>
          <a:solidFill>
            <a:srgbClr val="5D2E8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898648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70432" y="277063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validation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170432" y="3099816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 were manual or absent — errors propagated into payroll calculations.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20040" y="3703320"/>
            <a:ext cx="7726680" cy="841248"/>
          </a:xfrm>
          <a:prstGeom prst="rect">
            <a:avLst/>
          </a:prstGeom>
          <a:solidFill>
            <a:srgbClr val="EDE8FA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20040" y="3703320"/>
            <a:ext cx="54864" cy="841248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22" name="Shape 18"/>
          <p:cNvSpPr/>
          <p:nvPr/>
        </p:nvSpPr>
        <p:spPr>
          <a:xfrm>
            <a:off x="374904" y="3703320"/>
            <a:ext cx="658368" cy="841248"/>
          </a:xfrm>
          <a:prstGeom prst="rect">
            <a:avLst/>
          </a:prstGeom>
          <a:solidFill>
            <a:srgbClr val="5D2E8C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904488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70432" y="377647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data anomalies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170432" y="4105656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rows, placeholder values ('?', '-', 'N/A'), and outliers went undetected.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78638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321040" cy="1005840"/>
          </a:xfrm>
          <a:prstGeom prst="rect">
            <a:avLst/>
          </a:prstGeom>
          <a:solidFill>
            <a:srgbClr val="1E114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sequential multi-agent pipeline with shared typed state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0" y="0"/>
            <a:ext cx="201168" cy="5143500"/>
          </a:xfrm>
          <a:prstGeom prst="rect">
            <a:avLst/>
          </a:prstGeom>
          <a:solidFill>
            <a:srgbClr val="9B2C7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789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specialized agent validates one aspect of the data, shares findings through a typed state, and passes control to the next.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1170432" cy="658368"/>
          </a:xfrm>
          <a:prstGeom prst="rect">
            <a:avLst/>
          </a:prstGeom>
          <a:solidFill>
            <a:srgbClr val="5D2E8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60020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90472" y="1883664"/>
            <a:ext cx="73152" cy="9144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11" name="Shape 9"/>
          <p:cNvSpPr/>
          <p:nvPr/>
        </p:nvSpPr>
        <p:spPr>
          <a:xfrm>
            <a:off x="1563624" y="1600200"/>
            <a:ext cx="1170432" cy="658368"/>
          </a:xfrm>
          <a:prstGeom prst="rect">
            <a:avLst/>
          </a:prstGeom>
          <a:solidFill>
            <a:srgbClr val="5D2E8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63624" y="160020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34056" y="1883664"/>
            <a:ext cx="73152" cy="9144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14" name="Shape 12"/>
          <p:cNvSpPr/>
          <p:nvPr/>
        </p:nvSpPr>
        <p:spPr>
          <a:xfrm>
            <a:off x="2807208" y="1600200"/>
            <a:ext cx="1170432" cy="658368"/>
          </a:xfrm>
          <a:prstGeom prst="rect">
            <a:avLst/>
          </a:prstGeom>
          <a:solidFill>
            <a:srgbClr val="5D2E8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07208" y="160020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77640" y="1883664"/>
            <a:ext cx="73152" cy="9144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17" name="Shape 15"/>
          <p:cNvSpPr/>
          <p:nvPr/>
        </p:nvSpPr>
        <p:spPr>
          <a:xfrm>
            <a:off x="4050792" y="1600200"/>
            <a:ext cx="1170432" cy="658368"/>
          </a:xfrm>
          <a:prstGeom prst="rect">
            <a:avLst/>
          </a:prstGeom>
          <a:solidFill>
            <a:srgbClr val="5D2E8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50792" y="160020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21224" y="1883664"/>
            <a:ext cx="73152" cy="9144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20" name="Shape 18"/>
          <p:cNvSpPr/>
          <p:nvPr/>
        </p:nvSpPr>
        <p:spPr>
          <a:xfrm>
            <a:off x="5294376" y="1600200"/>
            <a:ext cx="1170432" cy="658368"/>
          </a:xfrm>
          <a:prstGeom prst="rect">
            <a:avLst/>
          </a:prstGeom>
          <a:solidFill>
            <a:srgbClr val="2ECC8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94376" y="160020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64808" y="1883664"/>
            <a:ext cx="73152" cy="9144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23" name="Shape 21"/>
          <p:cNvSpPr/>
          <p:nvPr/>
        </p:nvSpPr>
        <p:spPr>
          <a:xfrm>
            <a:off x="6537960" y="1600200"/>
            <a:ext cx="1170432" cy="658368"/>
          </a:xfrm>
          <a:prstGeom prst="rect">
            <a:avLst/>
          </a:prstGeom>
          <a:solidFill>
            <a:srgbClr val="D1459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37960" y="160020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141732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Input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37960" y="141732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Report + Score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2423160"/>
            <a:ext cx="7726680" cy="658368"/>
          </a:xfrm>
          <a:prstGeom prst="rect">
            <a:avLst/>
          </a:prstGeom>
          <a:solidFill>
            <a:srgbClr val="EDE8FA"/>
          </a:solidFill>
          <a:ln w="6350">
            <a:solidFill>
              <a:srgbClr val="C0B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48716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LangGraph State  (DQState TypedDict)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" y="276148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· completeness · consistency · anomaly · cleaned_df · fix_log · scores · gemini_commentary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246120"/>
            <a:ext cx="3657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246120"/>
            <a:ext cx="3657600" cy="54864"/>
          </a:xfrm>
          <a:prstGeom prst="rect">
            <a:avLst/>
          </a:prstGeom>
          <a:solidFill>
            <a:srgbClr val="5D2E8C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401568"/>
            <a:ext cx="384048" cy="38404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978408" y="33649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84632" y="3840480"/>
            <a:ext cx="3328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StateGraph connects 6 nodes in sequence. Each agent reads from and writes to the shared typed state (DQState TypedDict).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233672" y="3246120"/>
            <a:ext cx="3657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233672" y="3246120"/>
            <a:ext cx="3657600" cy="54864"/>
          </a:xfrm>
          <a:prstGeom prst="rect">
            <a:avLst/>
          </a:prstGeom>
          <a:solidFill>
            <a:srgbClr val="D14591"/>
          </a:solidFill>
          <a:ln/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264" y="3401568"/>
            <a:ext cx="384048" cy="38404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4892040" y="33649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2.0 Flash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4398264" y="3840480"/>
            <a:ext cx="3328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schema inference, natural language commentary for each agent, and generates specific correction suggestions in the final stage.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78638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321040" cy="1005840"/>
          </a:xfrm>
          <a:prstGeom prst="rect">
            <a:avLst/>
          </a:prstGeom>
          <a:solidFill>
            <a:srgbClr val="1E114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0"/>
            <a:ext cx="201168" cy="5143500"/>
          </a:xfrm>
          <a:prstGeom prst="rect">
            <a:avLst/>
          </a:prstGeom>
          <a:solidFill>
            <a:srgbClr val="9B2C7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43000"/>
            <a:ext cx="7726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594360" cy="566928"/>
          </a:xfrm>
          <a:prstGeom prst="rect">
            <a:avLst/>
          </a:prstGeom>
          <a:solidFill>
            <a:srgbClr val="5D2E8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26187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188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1444752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all agents, data processing, and statistical analysis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1801368"/>
            <a:ext cx="7726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1801368"/>
            <a:ext cx="594360" cy="566928"/>
          </a:xfrm>
          <a:prstGeom prst="rect">
            <a:avLst/>
          </a:prstGeom>
          <a:solidFill>
            <a:srgbClr val="5D2E8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2024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51560" y="2103120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framework for orchestrating agents in a sequential pipeline with shared typed state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2459736"/>
            <a:ext cx="7726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2459736"/>
            <a:ext cx="594360" cy="566928"/>
          </a:xfrm>
          <a:prstGeom prst="rect">
            <a:avLst/>
          </a:prstGeom>
          <a:solidFill>
            <a:srgbClr val="5D2E8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57860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25054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2.0 Flash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51560" y="2761488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for schema inference, natural language commentary, and remediation suggestion generation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20040" y="3118104"/>
            <a:ext cx="7726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" y="3118104"/>
            <a:ext cx="594360" cy="566928"/>
          </a:xfrm>
          <a:prstGeom prst="rect">
            <a:avLst/>
          </a:prstGeom>
          <a:solidFill>
            <a:srgbClr val="5D2E8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236976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51560" y="3163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051560" y="341985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manipulation, missing value detection, statistical outlier analysis (Z-score, IQR)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0040" y="3776472"/>
            <a:ext cx="7726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" y="3776472"/>
            <a:ext cx="594360" cy="566928"/>
          </a:xfrm>
          <a:prstGeom prst="rect">
            <a:avLst/>
          </a:prstGeom>
          <a:solidFill>
            <a:srgbClr val="5D2E8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895344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51560" y="3822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051560" y="4078224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6 tabs, dynamic charts, and CSV/JSON download buttons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320040" y="4434840"/>
            <a:ext cx="7726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20040" y="4434840"/>
            <a:ext cx="594360" cy="566928"/>
          </a:xfrm>
          <a:prstGeom prst="rect">
            <a:avLst/>
          </a:prstGeom>
          <a:solidFill>
            <a:srgbClr val="5D2E8C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4553712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51560" y="4480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1051560" y="4736592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team collaboration, and final submission repository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78638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321040" cy="1005840"/>
          </a:xfrm>
          <a:prstGeom prst="rect">
            <a:avLst/>
          </a:prstGeom>
          <a:solidFill>
            <a:srgbClr val="1E114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1: Schema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conventions, type inference, duplicate column detection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0" y="0"/>
            <a:ext cx="201168" cy="5143500"/>
          </a:xfrm>
          <a:prstGeom prst="rect">
            <a:avLst/>
          </a:prstGeom>
          <a:solidFill>
            <a:srgbClr val="9B2C7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115568"/>
            <a:ext cx="7726680" cy="1024128"/>
          </a:xfrm>
          <a:prstGeom prst="rect">
            <a:avLst/>
          </a:prstGeom>
          <a:solidFill>
            <a:srgbClr val="EDE8FA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1024128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070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51790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column names (minor vs major issues), infers expected types from samples, and detects near-identical duplicate columns using both raw and normalized similarity (case-fold + placeholder stripping).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322576"/>
            <a:ext cx="7726680" cy="1024128"/>
          </a:xfrm>
          <a:prstGeom prst="rect">
            <a:avLst/>
          </a:prstGeom>
          <a:solidFill>
            <a:srgbClr val="FFF0F8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22576"/>
            <a:ext cx="54864" cy="1024128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1401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72491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Dual-threshold duplicate detection: provincia_sede vs Provincia Sede share only 93% raw similarity but 99.6% normalized — correctly identified as the same field at two cleanliness levels.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529584"/>
            <a:ext cx="7726680" cy="1024128"/>
          </a:xfrm>
          <a:prstGeom prst="rect">
            <a:avLst/>
          </a:prstGeom>
          <a:solidFill>
            <a:srgbClr val="EDE8FA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529584"/>
            <a:ext cx="54864" cy="1024128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62102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on Reply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931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spesa.csv: 7 naming issues, 5 duplicate column pairs (ente~ente%code, cod_imposta~2cod_imposta, spesa~SPESA TOTALE …). Schema score: 65.6 → 97.5 after auto-fix.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321040" cy="1005840"/>
          </a:xfrm>
          <a:prstGeom prst="rect">
            <a:avLst/>
          </a:prstGeom>
          <a:solidFill>
            <a:srgbClr val="1E114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2 &amp; 3: Completeness + Consistency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0"/>
            <a:ext cx="201168" cy="5143500"/>
          </a:xfrm>
          <a:prstGeom prst="rect">
            <a:avLst/>
          </a:prstGeom>
          <a:solidFill>
            <a:srgbClr val="9B2C7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15568"/>
            <a:ext cx="36576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3657600" cy="54864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0700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true NaN and 20+ placeholder strings: '-', '?', 'N/A', '00', '//', 'da definire', 'TBD'…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5915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&lt;30% complete flagged as sparse → candidates for removal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906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spesa.csv: note col 2% complete, fonte_dato 1% → both removed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221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17,925 placeholder cells replaced with proper NaN across 6 columns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0" y="1115568"/>
            <a:ext cx="37490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1115568"/>
            <a:ext cx="3749040" cy="54864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20700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Validation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43400" y="162763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consistency: detects YYYYMM vs YYYY-MM vs YYYY/MM mixed in same column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43400" y="235915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Cross-column rules MINED from data (≥30 rows/type) — no hard-coded taxonomy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43400" y="309067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rows: pairs differing in 1 column, sampled to 500 rows for speed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43400" y="382219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exact duplicate rows found and removed from spesa.csv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638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321040" cy="1005840"/>
          </a:xfrm>
          <a:prstGeom prst="rect">
            <a:avLst/>
          </a:prstGeom>
          <a:solidFill>
            <a:srgbClr val="1E114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4: Anomaly Detection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AND IQR dual-test for numerical outliers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0" y="0"/>
            <a:ext cx="201168" cy="5143500"/>
          </a:xfrm>
          <a:prstGeom prst="rect">
            <a:avLst/>
          </a:prstGeom>
          <a:solidFill>
            <a:srgbClr val="9B2C7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115568"/>
            <a:ext cx="37947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15568"/>
            <a:ext cx="3794760" cy="54864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0700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Outliers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627632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method: flags |z| &gt; 3 standard deviations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method: flags values outside Q1 − 1.5·IQR or Q3 + 1.5·IQR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035808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is flagged ONLY if BOTH tests agree → cuts false positives by ~50%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739896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494 outliers found in spesa.csv (heavy-tailed spesa column)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115568"/>
            <a:ext cx="37947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1115568"/>
            <a:ext cx="3794760" cy="54864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20700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Categorical Values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1627632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values appearing in &lt;0.5% of rows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233172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on datasets with &lt;200 rows (avoids false positives on tiny test files)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3035808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rare categories found in spesa.csv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3739896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'Erariali ' (trailing space) — typo variant of 'Erariali'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663440"/>
            <a:ext cx="7726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7000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choice: outliers are REPORTED, never auto-corrected — a high value might be a legitimate large ministry payment.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321040" cy="1005840"/>
          </a:xfrm>
          <a:prstGeom prst="rect">
            <a:avLst/>
          </a:prstGeom>
          <a:solidFill>
            <a:srgbClr val="1E114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5: Auto-Fix (Cleaner)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safe transformations + audit-ready fix log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0" y="0"/>
            <a:ext cx="201168" cy="5143500"/>
          </a:xfrm>
          <a:prstGeom prst="rect">
            <a:avLst/>
          </a:prstGeom>
          <a:solidFill>
            <a:srgbClr val="9B2C7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115568"/>
            <a:ext cx="384048" cy="420624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1556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133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 columns (≥0.97 similarity)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35331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ente%code, 2cod_imposta, SPESA TOTALE…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7726680" cy="9144"/>
          </a:xfrm>
          <a:prstGeom prst="rect">
            <a:avLst/>
          </a:prstGeom>
          <a:solidFill>
            <a:srgbClr val="E0D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664208"/>
            <a:ext cx="384048" cy="420624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66420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16824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sparse columns (&lt;30% complete)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190195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note (2%), fonte_dato (1%)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084832"/>
            <a:ext cx="7726680" cy="9144"/>
          </a:xfrm>
          <a:prstGeom prst="rect">
            <a:avLst/>
          </a:prstGeom>
          <a:solidFill>
            <a:srgbClr val="E0D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2212848"/>
            <a:ext cx="384048" cy="420624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2128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22311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all columns to snake_case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45059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→ 12 clean column names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633472"/>
            <a:ext cx="7726680" cy="9144"/>
          </a:xfrm>
          <a:prstGeom prst="rect">
            <a:avLst/>
          </a:prstGeom>
          <a:solidFill>
            <a:srgbClr val="E0D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2761488"/>
            <a:ext cx="384048" cy="420624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76148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placeholders with NaN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299923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598 cells corrected across 6 columns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182112"/>
            <a:ext cx="7726680" cy="9144"/>
          </a:xfrm>
          <a:prstGeom prst="rect">
            <a:avLst/>
          </a:prstGeom>
          <a:solidFill>
            <a:srgbClr val="E0D8F0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" y="3310128"/>
            <a:ext cx="384048" cy="420624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31012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33284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Canonicalize categorical casing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35478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'Erariali ', 'ERARIALI', 'erariali' → 'Erariali'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730752"/>
            <a:ext cx="7726680" cy="9144"/>
          </a:xfrm>
          <a:prstGeom prst="rect">
            <a:avLst/>
          </a:prstGeom>
          <a:solidFill>
            <a:srgbClr val="E0D8F0"/>
          </a:solidFill>
          <a:ln/>
        </p:spPr>
      </p:sp>
      <p:sp>
        <p:nvSpPr>
          <p:cNvPr id="32" name="Shape 30"/>
          <p:cNvSpPr/>
          <p:nvPr/>
        </p:nvSpPr>
        <p:spPr>
          <a:xfrm>
            <a:off x="320040" y="3858768"/>
            <a:ext cx="384048" cy="420624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385876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38770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period formats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" y="409651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cells: 2024-01 and 2024/01 → 202401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279392"/>
            <a:ext cx="7726680" cy="9144"/>
          </a:xfrm>
          <a:prstGeom prst="rect">
            <a:avLst/>
          </a:prstGeom>
          <a:solidFill>
            <a:srgbClr val="E0D8F0"/>
          </a:solidFill>
          <a:ln/>
        </p:spPr>
      </p:sp>
      <p:sp>
        <p:nvSpPr>
          <p:cNvPr id="37" name="Shape 35"/>
          <p:cNvSpPr/>
          <p:nvPr/>
        </p:nvSpPr>
        <p:spPr>
          <a:xfrm>
            <a:off x="320040" y="4407408"/>
            <a:ext cx="384048" cy="420624"/>
          </a:xfrm>
          <a:prstGeom prst="rect">
            <a:avLst/>
          </a:prstGeom>
          <a:solidFill>
            <a:srgbClr val="2ECC8F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440740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2960" y="4425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exact-duplicate rows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2960" y="464515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rows removed from spesa.csv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8638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321040" cy="1005840"/>
          </a:xfrm>
          <a:prstGeom prst="rect">
            <a:avLst/>
          </a:prstGeom>
          <a:solidFill>
            <a:srgbClr val="1E114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6: Remediation &amp; Reliability Score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0"/>
            <a:ext cx="201168" cy="5143500"/>
          </a:xfrm>
          <a:prstGeom prst="rect">
            <a:avLst/>
          </a:prstGeom>
          <a:solidFill>
            <a:srgbClr val="9B2C7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15568"/>
            <a:ext cx="7726680" cy="777240"/>
          </a:xfrm>
          <a:prstGeom prst="rect">
            <a:avLst/>
          </a:prstGeom>
          <a:solidFill>
            <a:srgbClr val="EDE8FA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34440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Score  =  0.40 · Completeness  +  0.30 · Schema  +  0.20 · Consistency  +  0.10 · Anomaly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1828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057400"/>
            <a:ext cx="1828800" cy="54864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13969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D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0040" y="2688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9626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makes everything downstream useless.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0" y="2057400"/>
            <a:ext cx="1828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0" y="2057400"/>
            <a:ext cx="1828800" cy="54864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213969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D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286000" y="2688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29626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names/types break every pipeline.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51960" y="2057400"/>
            <a:ext cx="1828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1960" y="2057400"/>
            <a:ext cx="1828800" cy="54864"/>
          </a:xfrm>
          <a:prstGeom prst="rect">
            <a:avLst/>
          </a:prstGeom>
          <a:solidFill>
            <a:srgbClr val="9B2C7E"/>
          </a:solidFill>
          <a:ln/>
        </p:spPr>
      </p:sp>
      <p:sp>
        <p:nvSpPr>
          <p:cNvPr id="20" name="Text 18"/>
          <p:cNvSpPr/>
          <p:nvPr/>
        </p:nvSpPr>
        <p:spPr>
          <a:xfrm>
            <a:off x="4251960" y="213969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B2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251960" y="2688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43400" y="29626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 violations affect calculations.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2057400"/>
            <a:ext cx="1828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2057400"/>
            <a:ext cx="1828800" cy="54864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213969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14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217920" y="2688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29626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may be legitimate — lowest weight.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657600"/>
            <a:ext cx="7726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22192"/>
            <a:ext cx="457200" cy="4572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097280" y="373075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— used here for remediation plan generation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097280" y="4041648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exact agent summaries + fix log. Writes: overall assessment, top-3 residual issues, 3 concrete next actions. Temperature = 0 for reproducibility. Falls back gracefully if API key is absent.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8638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321040" cy="1005840"/>
          </a:xfrm>
          <a:prstGeom prst="rect">
            <a:avLst/>
          </a:prstGeom>
          <a:solidFill>
            <a:srgbClr val="1E114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improved after the mid-check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0" y="0"/>
            <a:ext cx="201168" cy="5143500"/>
          </a:xfrm>
          <a:prstGeom prst="rect">
            <a:avLst/>
          </a:prstGeom>
          <a:solidFill>
            <a:srgbClr val="9B2C7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115568"/>
            <a:ext cx="7726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15568"/>
            <a:ext cx="64008" cy="804672"/>
          </a:xfrm>
          <a:prstGeom prst="rect">
            <a:avLst/>
          </a:prstGeom>
          <a:solidFill>
            <a:srgbClr val="C05000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0" y="1188720"/>
            <a:ext cx="1115568" cy="237744"/>
          </a:xfrm>
          <a:prstGeom prst="rect">
            <a:avLst>
              <a:gd name="adj" fmla="val 19231"/>
            </a:avLst>
          </a:prstGeom>
          <a:solidFill>
            <a:srgbClr val="C0500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18872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Mid-check fix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" y="11887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schema score (fixes mid-check 0.0 bug)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148132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naming issues (−5 pts) vs major (−20 pts) vs type mismatch (−30 pts). Previously every non-snake_case column gave 0.0.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075688"/>
            <a:ext cx="7726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075688"/>
            <a:ext cx="64008" cy="804672"/>
          </a:xfrm>
          <a:prstGeom prst="rect">
            <a:avLst/>
          </a:prstGeom>
          <a:solidFill>
            <a:srgbClr val="2ECC8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0" y="2148840"/>
            <a:ext cx="1115568" cy="237744"/>
          </a:xfrm>
          <a:prstGeom prst="rect">
            <a:avLst>
              <a:gd name="adj" fmla="val 19231"/>
            </a:avLst>
          </a:prstGeom>
          <a:solidFill>
            <a:srgbClr val="2ECC8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214884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21488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cross-column rule mining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244144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learned from ≥30 rows per Tipo bucket covering 95% of combinations. Reduced false positives from 1,783 to ~100 on spesa.csv.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035808"/>
            <a:ext cx="7726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035808"/>
            <a:ext cx="64008" cy="804672"/>
          </a:xfrm>
          <a:prstGeom prst="rect">
            <a:avLst/>
          </a:prstGeom>
          <a:solidFill>
            <a:srgbClr val="2ECC8F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0" y="3108960"/>
            <a:ext cx="1115568" cy="237744"/>
          </a:xfrm>
          <a:prstGeom prst="rect">
            <a:avLst>
              <a:gd name="adj" fmla="val 19231"/>
            </a:avLst>
          </a:prstGeom>
          <a:solidFill>
            <a:srgbClr val="2ECC8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1089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" y="310896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name + value quality for column selection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" y="340156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dropping duplicates, picks which column to keep using both name quality (snake_case) and value quality (% placeholders). Keeps 'Provincia Sede' (clean values) over 'provincia_sede' (dirty).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995928"/>
            <a:ext cx="7726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995928"/>
            <a:ext cx="64008" cy="804672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0" y="4069080"/>
            <a:ext cx="1115568" cy="237744"/>
          </a:xfrm>
          <a:prstGeom prst="rect">
            <a:avLst>
              <a:gd name="adj" fmla="val 19231"/>
            </a:avLst>
          </a:prstGeom>
          <a:solidFill>
            <a:srgbClr val="D14591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406908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" y="40690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StringDtype fix (silent bug)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" y="436168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pd.read_csv(dtype=str) uses StringDtype, not object. The old dtype==object check silently disabled ALL placeholder replacement. Fixed with pd.api.types.is_string_dtype().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638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321040" cy="1005840"/>
          </a:xfrm>
          <a:prstGeom prst="rect">
            <a:avLst/>
          </a:prstGeom>
          <a:solidFill>
            <a:srgbClr val="1E114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Benchmark across 4 Datasets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0"/>
            <a:ext cx="201168" cy="5143500"/>
          </a:xfrm>
          <a:prstGeom prst="rect">
            <a:avLst/>
          </a:prstGeom>
          <a:solidFill>
            <a:srgbClr val="9B2C7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097280"/>
            <a:ext cx="18745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1874520" cy="64008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20700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94.5→98.6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883664"/>
            <a:ext cx="1143000" cy="475488"/>
          </a:xfrm>
          <a:prstGeom prst="rect">
            <a:avLst/>
          </a:prstGeom>
          <a:solidFill>
            <a:srgbClr val="5D2E8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883664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245059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dataset_noipa_1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rows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31720" y="1097280"/>
            <a:ext cx="18745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31720" y="1097280"/>
            <a:ext cx="1874520" cy="64008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120700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87.9→97.1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697480" y="1883664"/>
            <a:ext cx="1143000" cy="475488"/>
          </a:xfrm>
          <a:prstGeom prst="rect">
            <a:avLst/>
          </a:prstGeom>
          <a:solidFill>
            <a:srgbClr val="5D2E8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97480" y="1883664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331720" y="245059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dataset_noipa_2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rows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1097280"/>
            <a:ext cx="18745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1097280"/>
            <a:ext cx="1874520" cy="64008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20" name="Text 18"/>
          <p:cNvSpPr/>
          <p:nvPr/>
        </p:nvSpPr>
        <p:spPr>
          <a:xfrm>
            <a:off x="4343400" y="120700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71.7→89.9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709160" y="1883664"/>
            <a:ext cx="1143000" cy="475488"/>
          </a:xfrm>
          <a:prstGeom prst="rect">
            <a:avLst/>
          </a:prstGeom>
          <a:solidFill>
            <a:srgbClr val="D1459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1883664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343400" y="245059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spesa.csv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7,543 rows (Reply)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55080" y="1097280"/>
            <a:ext cx="18745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1097280"/>
            <a:ext cx="1874520" cy="64008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120700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69.2→82.7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720840" y="1883664"/>
            <a:ext cx="1143000" cy="475488"/>
          </a:xfrm>
          <a:prstGeom prst="rect">
            <a:avLst/>
          </a:prstGeom>
          <a:solidFill>
            <a:srgbClr val="D1459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20840" y="1883664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55080" y="245059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attivazioniCessazioni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20,102 rows (Reply)</a:t>
            </a:r>
            <a:endParaRPr lang="en-US" sz="10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320040" y="3520440"/>
          <a:ext cx="772668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Text 28"/>
          <p:cNvSpPr/>
          <p:nvPr/>
        </p:nvSpPr>
        <p:spPr>
          <a:xfrm>
            <a:off x="78638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321040" cy="1005840"/>
          </a:xfrm>
          <a:prstGeom prst="rect">
            <a:avLst/>
          </a:prstGeom>
          <a:solidFill>
            <a:srgbClr val="1E114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spesa.csv — Detailed Fix Log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automatic actions · 71.7 → 89.9 score (+18.2 pts)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0" y="0"/>
            <a:ext cx="201168" cy="5143500"/>
          </a:xfrm>
          <a:prstGeom prst="rect">
            <a:avLst/>
          </a:prstGeom>
          <a:solidFill>
            <a:srgbClr val="9B2C7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7899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18 to 12 columns, 7,543 to 7,503 rows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54864" cy="429768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" y="1481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dup. cols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1682496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ente%code, 2cod_imposta, cod imposta ext, SPESA TOTALE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892808"/>
            <a:ext cx="7726680" cy="9144"/>
          </a:xfrm>
          <a:prstGeom prst="rect">
            <a:avLst/>
          </a:prstGeom>
          <a:solidFill>
            <a:srgbClr val="E8E0F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984248"/>
            <a:ext cx="54864" cy="429768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" y="20025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sparse cols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" y="2203704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(2%), fonte_dato (1%)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414016"/>
            <a:ext cx="7726680" cy="9144"/>
          </a:xfrm>
          <a:prstGeom prst="rect">
            <a:avLst/>
          </a:prstGeom>
          <a:solidFill>
            <a:srgbClr val="E8E0F0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505456"/>
            <a:ext cx="54864" cy="429768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" y="25237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columns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" y="272491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columns → snake_case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935224"/>
            <a:ext cx="7726680" cy="9144"/>
          </a:xfrm>
          <a:prstGeom prst="rect">
            <a:avLst/>
          </a:prstGeom>
          <a:solidFill>
            <a:srgbClr val="E8E0F0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3026664"/>
            <a:ext cx="54864" cy="429768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" y="3044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placeholders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" y="3246120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 (118), descrizione (169), tipo_imposta (47), cod_imposta (72), imposta (137), spesa (55)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456432"/>
            <a:ext cx="7726680" cy="9144"/>
          </a:xfrm>
          <a:prstGeom prst="rect">
            <a:avLst/>
          </a:prstGeom>
          <a:solidFill>
            <a:srgbClr val="E8E0F0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3547872"/>
            <a:ext cx="54864" cy="429768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" y="35661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Canonicalize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" y="3767328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tipo_imposta: 'Erariali ', 'erariali', 'ERARIALI' → 'Erariali'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977640"/>
            <a:ext cx="7726680" cy="9144"/>
          </a:xfrm>
          <a:prstGeom prst="rect">
            <a:avLst/>
          </a:prstGeom>
          <a:solidFill>
            <a:srgbClr val="E8E0F0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4069080"/>
            <a:ext cx="54864" cy="429768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" y="4087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format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" y="4288536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rata: 60 cells → YYYYMM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498848"/>
            <a:ext cx="7726680" cy="9144"/>
          </a:xfrm>
          <a:prstGeom prst="rect">
            <a:avLst/>
          </a:prstGeom>
          <a:solidFill>
            <a:srgbClr val="E8E0F0"/>
          </a:solidFill>
          <a:ln/>
        </p:spPr>
      </p:sp>
      <p:sp>
        <p:nvSpPr>
          <p:cNvPr id="32" name="Shape 30"/>
          <p:cNvSpPr/>
          <p:nvPr/>
        </p:nvSpPr>
        <p:spPr>
          <a:xfrm>
            <a:off x="320040" y="4590288"/>
            <a:ext cx="54864" cy="429768"/>
          </a:xfrm>
          <a:prstGeom prst="rect">
            <a:avLst/>
          </a:prstGeom>
          <a:solidFill>
            <a:srgbClr val="2ECC8F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" y="46085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dup. rows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" y="4809744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exact duplicate rows removed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5020056"/>
            <a:ext cx="7726680" cy="9144"/>
          </a:xfrm>
          <a:prstGeom prst="rect">
            <a:avLst/>
          </a:prstGeom>
          <a:solidFill>
            <a:srgbClr val="E8E0F0"/>
          </a:solidFill>
          <a:ln/>
        </p:spPr>
      </p:sp>
      <p:sp>
        <p:nvSpPr>
          <p:cNvPr id="36" name="Shape 34"/>
          <p:cNvSpPr/>
          <p:nvPr/>
        </p:nvSpPr>
        <p:spPr>
          <a:xfrm>
            <a:off x="320040" y="5047488"/>
            <a:ext cx="2468880" cy="640080"/>
          </a:xfrm>
          <a:prstGeom prst="rect">
            <a:avLst/>
          </a:prstGeom>
          <a:solidFill>
            <a:srgbClr val="EDE8FA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20040" y="50840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D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→ 12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20040" y="5394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926080" y="5047488"/>
            <a:ext cx="2468880" cy="640080"/>
          </a:xfrm>
          <a:prstGeom prst="rect">
            <a:avLst/>
          </a:prstGeom>
          <a:solidFill>
            <a:srgbClr val="EDE8FA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926080" y="50840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D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7,543 → 7,503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926080" y="5394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32120" y="5047488"/>
            <a:ext cx="2468880" cy="640080"/>
          </a:xfrm>
          <a:prstGeom prst="rect">
            <a:avLst/>
          </a:prstGeom>
          <a:solidFill>
            <a:srgbClr val="EDE8FA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532120" y="50840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D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71.7 → 89.9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532120" y="5394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8638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321040" cy="1005840"/>
          </a:xfrm>
          <a:prstGeom prst="rect">
            <a:avLst/>
          </a:prstGeom>
          <a:solidFill>
            <a:srgbClr val="1E114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Breakdown — Before vs After Auto-Fix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0"/>
            <a:ext cx="201168" cy="5143500"/>
          </a:xfrm>
          <a:prstGeom prst="rect">
            <a:avLst/>
          </a:prstGeom>
          <a:solidFill>
            <a:srgbClr val="9B2C7E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320040" y="1097280"/>
          <a:ext cx="7726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754880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auto-fix: Schema 65.6→97.5 (+31.9) · Consistency 66.7→89.7 (+23.0) · Completeness 86.8→96.7 (+9.9)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8638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321040" cy="1005840"/>
          </a:xfrm>
          <a:prstGeom prst="rect">
            <a:avLst/>
          </a:prstGeom>
          <a:solidFill>
            <a:srgbClr val="1E114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6-tab UI — runs offline without API key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0" y="0"/>
            <a:ext cx="201168" cy="5143500"/>
          </a:xfrm>
          <a:prstGeom prst="rect">
            <a:avLst/>
          </a:prstGeom>
          <a:solidFill>
            <a:srgbClr val="9B2C7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07008"/>
            <a:ext cx="3749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07008"/>
            <a:ext cx="3749040" cy="54864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371600"/>
            <a:ext cx="402336" cy="402336"/>
          </a:xfrm>
          <a:prstGeom prst="oval">
            <a:avLst/>
          </a:prstGeom>
          <a:solidFill>
            <a:srgbClr val="5D2E8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78408" y="1344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" y="1719072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banner, issue summary table with severity badges, before/after chart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1207008"/>
            <a:ext cx="3749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1207008"/>
            <a:ext cx="3749040" cy="54864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15" name="Shape 13"/>
          <p:cNvSpPr/>
          <p:nvPr/>
        </p:nvSpPr>
        <p:spPr>
          <a:xfrm>
            <a:off x="4434840" y="1371600"/>
            <a:ext cx="402336" cy="402336"/>
          </a:xfrm>
          <a:prstGeom prst="oval">
            <a:avLst/>
          </a:prstGeom>
          <a:solidFill>
            <a:srgbClr val="D14591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56048" y="1344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62272" y="1719072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Per-column name analysis, duplicate pairs with similarity scores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487168"/>
            <a:ext cx="3749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487168"/>
            <a:ext cx="3749040" cy="54864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651760"/>
            <a:ext cx="402336" cy="402336"/>
          </a:xfrm>
          <a:prstGeom prst="oval">
            <a:avLst/>
          </a:prstGeom>
          <a:solidFill>
            <a:srgbClr val="5D2E8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8408" y="2624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" y="2999232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horizontal bar chart (green/orange/red) per column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97680" y="2487168"/>
            <a:ext cx="3749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97680" y="2487168"/>
            <a:ext cx="3749040" cy="54864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27" name="Shape 25"/>
          <p:cNvSpPr/>
          <p:nvPr/>
        </p:nvSpPr>
        <p:spPr>
          <a:xfrm>
            <a:off x="4434840" y="2651760"/>
            <a:ext cx="402336" cy="402336"/>
          </a:xfrm>
          <a:prstGeom prst="oval">
            <a:avLst/>
          </a:prstGeom>
          <a:solidFill>
            <a:srgbClr val="D14591"/>
          </a:solidFill>
          <a:ln/>
        </p:spPr>
      </p:sp>
      <p:sp>
        <p:nvSpPr>
          <p:cNvPr id="28" name="Text 26"/>
          <p:cNvSpPr/>
          <p:nvPr/>
        </p:nvSpPr>
        <p:spPr>
          <a:xfrm>
            <a:off x="443484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56048" y="2624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62272" y="2999232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issues, cross-column violations, exact duplicate groups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767328"/>
            <a:ext cx="3749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767328"/>
            <a:ext cx="3749040" cy="54864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3931920"/>
            <a:ext cx="402336" cy="402336"/>
          </a:xfrm>
          <a:prstGeom prst="oval">
            <a:avLst/>
          </a:prstGeom>
          <a:solidFill>
            <a:srgbClr val="5D2E8C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78408" y="3904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4632" y="4279392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Plotly box plot with outliers highlighted in red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97680" y="3767328"/>
            <a:ext cx="3749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97680" y="3767328"/>
            <a:ext cx="3749040" cy="54864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39" name="Shape 37"/>
          <p:cNvSpPr/>
          <p:nvPr/>
        </p:nvSpPr>
        <p:spPr>
          <a:xfrm>
            <a:off x="4434840" y="3931920"/>
            <a:ext cx="402336" cy="402336"/>
          </a:xfrm>
          <a:prstGeom prst="oval">
            <a:avLst/>
          </a:prstGeom>
          <a:solidFill>
            <a:srgbClr val="D14591"/>
          </a:solidFill>
          <a:ln/>
        </p:spPr>
      </p:sp>
      <p:sp>
        <p:nvSpPr>
          <p:cNvPr id="40" name="Text 38"/>
          <p:cNvSpPr/>
          <p:nvPr/>
        </p:nvSpPr>
        <p:spPr>
          <a:xfrm>
            <a:off x="4434840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956048" y="3904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462272" y="4279392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log table, cleaned dataset preview, 3 download buttons (CSV/JSON/report)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8638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321040" cy="1005840"/>
          </a:xfrm>
          <a:prstGeom prst="rect">
            <a:avLst/>
          </a:prstGeom>
          <a:solidFill>
            <a:srgbClr val="1E114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submitting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0" y="0"/>
            <a:ext cx="201168" cy="5143500"/>
          </a:xfrm>
          <a:prstGeom prst="rect">
            <a:avLst/>
          </a:prstGeom>
          <a:solidFill>
            <a:srgbClr val="9B2C7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115568"/>
            <a:ext cx="7726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15568"/>
            <a:ext cx="594360" cy="658368"/>
          </a:xfrm>
          <a:prstGeom prst="rect">
            <a:avLst/>
          </a:prstGeom>
          <a:solidFill>
            <a:srgbClr val="5D2E8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271016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188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dq_agents.py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51560" y="146304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1,136 lines · 6 agents · no LangGraph dependency · independently importable and testable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1892808"/>
            <a:ext cx="7726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1892808"/>
            <a:ext cx="594360" cy="658368"/>
          </a:xfrm>
          <a:prstGeom prst="rect">
            <a:avLst/>
          </a:prstGeom>
          <a:solidFill>
            <a:srgbClr val="5D2E8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048256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1965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main.ipynb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051560" y="224028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cells (18 markdown + 20 code) · LangGraph orchestration · Gemini commentary · 4 figures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0040" y="2670048"/>
            <a:ext cx="7726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2670048"/>
            <a:ext cx="594360" cy="658368"/>
          </a:xfrm>
          <a:prstGeom prst="rect">
            <a:avLst/>
          </a:prstGeom>
          <a:solidFill>
            <a:srgbClr val="D145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2549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2743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051560" y="301752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536 lines · Streamlit 6-tab dashboard · Plotly charts · CSV/JSON download · offline-capable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20040" y="3447288"/>
            <a:ext cx="7726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20040" y="3447288"/>
            <a:ext cx="594360" cy="658368"/>
          </a:xfrm>
          <a:prstGeom prst="rect">
            <a:avLst/>
          </a:prstGeom>
          <a:solidFill>
            <a:srgbClr val="D1459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602736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560" y="3520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051560" y="379476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required sections: Introduction, Methods, Experimental Design, Results, Conclusions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20040" y="4224528"/>
            <a:ext cx="7726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20040" y="4224528"/>
            <a:ext cx="594360" cy="658368"/>
          </a:xfrm>
          <a:prstGeom prst="rect">
            <a:avLst/>
          </a:prstGeom>
          <a:solidFill>
            <a:srgbClr val="2ECC8F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4379976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51560" y="4297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1051560" y="457200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github.com/chiaraadesio-hue/Data-Quality-Agents-819591 · all code + images committed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78638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321040" cy="1005840"/>
          </a:xfrm>
          <a:prstGeom prst="rect">
            <a:avLst/>
          </a:prstGeom>
          <a:solidFill>
            <a:srgbClr val="1E114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building this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0" y="0"/>
            <a:ext cx="201168" cy="5143500"/>
          </a:xfrm>
          <a:prstGeom prst="rect">
            <a:avLst/>
          </a:prstGeom>
          <a:solidFill>
            <a:srgbClr val="9B2C7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115568"/>
            <a:ext cx="7726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15568"/>
            <a:ext cx="64008" cy="804672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11887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is messier than expected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" y="149961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spesa.csv had 5 duplicate column pairs, 598 placeholder cells, and 40 casing variants of 'Erariali'. Synthetic test files never reproduce this complexity.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075688"/>
            <a:ext cx="7726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75688"/>
            <a:ext cx="64008" cy="804672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21488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beats LLM for quality decisions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" y="245973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matters for audit. LLM at temperature=0 still varies — keeping it to commentary and out of the decision loop was the right call.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035808"/>
            <a:ext cx="7726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035808"/>
            <a:ext cx="64008" cy="804672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31089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'safe fix' boundary is hard to draw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" y="341985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correction, near-duplicate merging — without domain knowledge you cannot know if a value is wrong or just unusual. We left those for human review.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995928"/>
            <a:ext cx="7726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995928"/>
            <a:ext cx="64008" cy="804672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40690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pays off in maintainability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" y="437997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Auto-Fix agent required zero changes to the other 5. The typed shared state (DQState) made the interface explicit and the code easy to reason about.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321040" cy="1005840"/>
          </a:xfrm>
          <a:prstGeom prst="rect">
            <a:avLst/>
          </a:prstGeom>
          <a:solidFill>
            <a:srgbClr val="1E114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0"/>
            <a:ext cx="201168" cy="5143500"/>
          </a:xfrm>
          <a:prstGeom prst="rect">
            <a:avLst/>
          </a:prstGeom>
          <a:solidFill>
            <a:srgbClr val="9B2C7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15568"/>
            <a:ext cx="7726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64008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7040880" y="1188720"/>
            <a:ext cx="960120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0" y="118872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208" y="1170432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outlier detector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" y="14630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IQR+Z-score generates ~494 false positives on spesa.csv heavy-tailed columns. Ministry HQ legitimately pays more than small offices.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883664"/>
            <a:ext cx="7726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883664"/>
            <a:ext cx="64008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0" y="1956816"/>
            <a:ext cx="960120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195681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208" y="1938528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scan is O(n²)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" y="223113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500 sampled rows. Won't catch all pairs on large datasets. LSH (Locality-Sensitive Hashing) would give O(n log n).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651760"/>
            <a:ext cx="7726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651760"/>
            <a:ext cx="64008" cy="658368"/>
          </a:xfrm>
          <a:prstGeom prst="rect">
            <a:avLst/>
          </a:prstGeom>
          <a:solidFill>
            <a:srgbClr val="2ECC8F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0" y="2724912"/>
            <a:ext cx="960120" cy="237744"/>
          </a:xfrm>
          <a:prstGeom prst="rect">
            <a:avLst/>
          </a:prstGeom>
          <a:solidFill>
            <a:srgbClr val="2ECC8F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272491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1208" y="2706624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Per-column anomaly model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" y="299923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model on historical NoiPA data per column. Would distinguish legitimate large payments from typos.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419856"/>
            <a:ext cx="7726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419856"/>
            <a:ext cx="64008" cy="658368"/>
          </a:xfrm>
          <a:prstGeom prst="rect">
            <a:avLst/>
          </a:prstGeom>
          <a:solidFill>
            <a:srgbClr val="2ECC8F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0880" y="3493008"/>
            <a:ext cx="960120" cy="237744"/>
          </a:xfrm>
          <a:prstGeom prst="rect">
            <a:avLst/>
          </a:prstGeom>
          <a:solidFill>
            <a:srgbClr val="2ECC8F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349300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1208" y="3474720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Propose-and-confirm loop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1208" y="376732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auto-fix to handle near-duplicates and outliers with human-in-the-loop confirmation, persisted in the audit log.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187952"/>
            <a:ext cx="7726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187952"/>
            <a:ext cx="64008" cy="658368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32" name="Shape 30"/>
          <p:cNvSpPr/>
          <p:nvPr/>
        </p:nvSpPr>
        <p:spPr>
          <a:xfrm>
            <a:off x="7040880" y="4261104"/>
            <a:ext cx="960120" cy="237744"/>
          </a:xfrm>
          <a:prstGeom prst="rect">
            <a:avLst/>
          </a:prstGeom>
          <a:solidFill>
            <a:srgbClr val="5D2E8C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426110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1208" y="4242816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1208" y="453542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quality pipeline as a classical (non-agentic) monolith to quantify the maintainability/extensibility benefit of the multi-agent design.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638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321040" cy="1005840"/>
          </a:xfrm>
          <a:prstGeom prst="rect">
            <a:avLst/>
          </a:prstGeom>
          <a:solidFill>
            <a:srgbClr val="1E114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0"/>
            <a:ext cx="201168" cy="5143500"/>
          </a:xfrm>
          <a:prstGeom prst="rect">
            <a:avLst/>
          </a:prstGeom>
          <a:solidFill>
            <a:srgbClr val="9B2C7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15568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design where each agent has a narrow, well-defined responsibility produces a data-quality system that is auditable end-to-end.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37490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28800"/>
            <a:ext cx="3749040" cy="54864"/>
          </a:xfrm>
          <a:prstGeom prst="rect">
            <a:avLst/>
          </a:prstGeom>
          <a:solidFill>
            <a:srgbClr val="5D2E8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993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issue is traceable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" y="2359152"/>
            <a:ext cx="3419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flag links back to the agent that found it — no black box decisions.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828800"/>
            <a:ext cx="37490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97680" y="1828800"/>
            <a:ext cx="3749040" cy="54864"/>
          </a:xfrm>
          <a:prstGeom prst="rect">
            <a:avLst/>
          </a:prstGeom>
          <a:solidFill>
            <a:srgbClr val="D1459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0116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92040" y="1993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is reversible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462272" y="2359152"/>
            <a:ext cx="3419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fix_log records every action with row indices, old values, and rationale.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0040" y="3200400"/>
            <a:ext cx="37490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3200400"/>
            <a:ext cx="3749040" cy="54864"/>
          </a:xfrm>
          <a:prstGeom prst="rect">
            <a:avLst/>
          </a:prstGeom>
          <a:solidFill>
            <a:srgbClr val="5D2E8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832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4400" y="3364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only at the edges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84632" y="3730752"/>
            <a:ext cx="3419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writes commentary, not quality decisions — keeps the system reproducible.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297680" y="3200400"/>
            <a:ext cx="37490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297680" y="3200400"/>
            <a:ext cx="3749040" cy="54864"/>
          </a:xfrm>
          <a:prstGeom prst="rect">
            <a:avLst/>
          </a:prstGeom>
          <a:solidFill>
            <a:srgbClr val="D1459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38328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892040" y="3364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+18.2 pts on Reply data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462272" y="3730752"/>
            <a:ext cx="3419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spesa.csv: 71.7 → 89.9 — from 'needs manual work' to 'usable as-is'.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86384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0"/>
            <a:ext cx="201168" cy="5143500"/>
          </a:xfrm>
          <a:prstGeom prst="rect">
            <a:avLst/>
          </a:prstGeom>
          <a:solidFill>
            <a:srgbClr val="9B2C7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011680" cy="54864"/>
          </a:xfrm>
          <a:prstGeom prst="rect">
            <a:avLst/>
          </a:prstGeom>
          <a:solidFill>
            <a:srgbClr val="D1459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14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Eleonora Cappetti 812591   ·   Daniela Chiezzi 808021   ·   Chiara De Sio 819591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08960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31272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github.com/chiaraadesio-hue/Data-Quality-Agents-819591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14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57200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lift on spesa.csv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42316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14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423160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auto-fixes applied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38912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14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389120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35508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14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355080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tested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475488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x LUISS   |   Machine Learning 2025/26   |   Final Pitch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Quality Agents — Final Pitch</dc:title>
  <dc:subject>PptxGenJS Presentation</dc:subject>
  <dc:creator>PptxGenJS</dc:creator>
  <cp:lastModifiedBy>PptxGenJS</cp:lastModifiedBy>
  <cp:revision>1</cp:revision>
  <dcterms:created xsi:type="dcterms:W3CDTF">2026-04-29T21:00:51Z</dcterms:created>
  <dcterms:modified xsi:type="dcterms:W3CDTF">2026-04-29T21:00:51Z</dcterms:modified>
</cp:coreProperties>
</file>